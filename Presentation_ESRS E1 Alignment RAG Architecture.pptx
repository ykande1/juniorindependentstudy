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45A541-57B0-4CB5-B539-651B1F0D9190}">
  <a:tblStyle styleId="{EE45A541-57B0-4CB5-B539-651B1F0D91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6ba6c8b6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6ba6c8b6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3" Type="http://schemas.openxmlformats.org/officeDocument/2006/relationships/image" Target="../media/image9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9" Type="http://schemas.openxmlformats.org/officeDocument/2006/relationships/image" Target="../media/image8.png"/><Relationship Id="rId15" Type="http://schemas.openxmlformats.org/officeDocument/2006/relationships/image" Target="../media/image12.png"/><Relationship Id="rId1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2783"/>
            <a:ext cx="11049000" cy="12590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665982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Automating ESRS E1 Alignment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250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1FAE5"/>
                </a:solidFill>
                <a:latin typeface="Urbanist"/>
                <a:ea typeface="Urbanist"/>
                <a:cs typeface="Urbanist"/>
                <a:sym typeface="Urbanist"/>
              </a:rPr>
              <a:t>A RAG-Based Architecture for Sustainable Regulatory Compliance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323308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Yajas Kandel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80508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Computer Science Junior Independent Study • The College of Wooster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34924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190625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190625"/>
            <a:ext cx="34924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1950"/>
            <a:ext cx="34924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9650" y="4171950"/>
            <a:ext cx="349254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27950" y="4171950"/>
            <a:ext cx="34924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66775" y="213360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Compliance Gap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2600325"/>
            <a:ext cx="2901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Analyzing the barriers to CSRD alignment for over 50,000 European companies.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44925" y="213360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44925" y="2600325"/>
            <a:ext cx="290199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Engineering a Retrieval-Augmented Generation pipeline using local LLMs.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23225" y="213360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Green AI Analysis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23225" y="2600325"/>
            <a:ext cx="2901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Evaluating the sustainability trade-offs between local and cloud-based AI.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1149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Technical Evaluation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581650"/>
            <a:ext cx="2901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Mapping accuracy via F1 scores and cosine similarity benchmarks.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44925" y="51149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Horizons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44925" y="5581650"/>
            <a:ext cx="29019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Scaling to S &amp; G standards and optimizing inference throughput.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23225" y="51149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Discussion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23225" y="5581650"/>
            <a:ext cx="2901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Human-in-the-loop validation and audit-grade reliability.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4925" y="15240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3225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4505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44925" y="4505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23225" y="45053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571500" y="2571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STRATEGIC ROADMAP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1738" y="1609275"/>
            <a:ext cx="5831151" cy="42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5257800"/>
            <a:ext cx="528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7" name="Google Shape;127;p15"/>
          <p:cNvSpPr txBox="1"/>
          <p:nvPr/>
        </p:nvSpPr>
        <p:spPr>
          <a:xfrm>
            <a:off x="1028700" y="28194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43000" y="2819400"/>
            <a:ext cx="47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Volume: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320+ pages of high-density legal and technical mandates in ESRS E1. 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28700" y="3495675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43000" y="3495675"/>
            <a:ext cx="47148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Ambiguity: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Translating legal prose into operational data workflows is costly for SMEs.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28700" y="41719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143000" y="4171950"/>
            <a:ext cx="47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Risk: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Susceptibility to "Greenwashing" without verifiable source traceability.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COMPLIANCE CHALLENGE</a:t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430" y="2231232"/>
            <a:ext cx="5319783" cy="27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1352550"/>
            <a:ext cx="5200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SEMANTIC RAG DESIGN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283845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 specialized architecture that bridges the gap between raw regulatory text and actionable intelligence.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8200" y="37528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52500" y="375285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Non-Parametric Memory: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Anchors the AI in the actual ESRS E1 text.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8200" y="42862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52500" y="4400550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Zero Hallucination: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Strict system prompts prevent generative fabrication.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8200" y="48196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5007025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Audit-Grade Traceability: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Metadata tagging ensures "Source Receipts."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 rotWithShape="1">
          <a:blip r:embed="rId4">
            <a:alphaModFix/>
          </a:blip>
          <a:srcRect b="1640" l="0" r="0" t="3031"/>
          <a:stretch/>
        </p:blipFill>
        <p:spPr>
          <a:xfrm>
            <a:off x="5772300" y="2155450"/>
            <a:ext cx="6419700" cy="390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34924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28837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128837"/>
            <a:ext cx="34924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205412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3071812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Geometric Parsing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3538537"/>
            <a:ext cx="2901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Using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PyMuPDF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to filter y-axis coordinates, stripping top/bottom noise like page numbers.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44925" y="3071812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 State Machine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4925" y="3538537"/>
            <a:ext cx="290199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Deterministic parsing to partition text by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Disclosure Requirements (DR)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ARs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23225" y="3071812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JSON Structuring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3225" y="3538537"/>
            <a:ext cx="2901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Mapping raw prose into machine-readable objects with high-fidelity metadata tags.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622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4622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24622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ENGINEERING THE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200784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4" name="Google Shape;174;p18"/>
          <p:cNvGraphicFramePr/>
          <p:nvPr/>
        </p:nvGraphicFramePr>
        <p:xfrm>
          <a:off x="571500" y="1472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{EE45A541-57B0-4CB5-B539-651B1F0D9190}</a:tableStyleId>
              </a:tblPr>
              <a:tblGrid>
                <a:gridCol w="1843900"/>
                <a:gridCol w="4464025"/>
                <a:gridCol w="4741075"/>
              </a:tblGrid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98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Metadata Key</a:t>
                      </a:r>
                      <a:endParaRPr sz="2000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98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Example Value</a:t>
                      </a:r>
                      <a:endParaRPr sz="2000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98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Strategic Purpose</a:t>
                      </a:r>
                      <a:endParaRPr sz="2000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ESRS_E1_Delegated_Act_2023.pdf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Ensures legal provenance.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Direct citation for auditing.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Transition plan for climate change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Contextual categorization.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Application Requirement (AR)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Distinguishes rules from methodology.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“3. Double materiality as the basis for sustainability disclosures”</a:t>
                      </a:r>
                      <a:endParaRPr sz="15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  The actual content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18"/>
          <p:cNvSpPr/>
          <p:nvPr/>
        </p:nvSpPr>
        <p:spPr>
          <a:xfrm>
            <a:off x="571500" y="3711773"/>
            <a:ext cx="1935807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507307" y="3711773"/>
            <a:ext cx="4372123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879431" y="3711773"/>
            <a:ext cx="4741068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5959673"/>
            <a:ext cx="1935807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507307" y="5959673"/>
            <a:ext cx="4372123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879431" y="5959673"/>
            <a:ext cx="4741068" cy="95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STRUCTURED METADATA SCHEMA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8438" y="3357494"/>
            <a:ext cx="5286375" cy="104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2935634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334125" y="2213669"/>
            <a:ext cx="55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71400" y="2623244"/>
            <a:ext cx="52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system calculates the angular distance between vectors to identify conceptual matches.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71363" y="4587180"/>
            <a:ext cx="5286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By using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all-MiniLM-L6-v2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, we index 384-dimensional embeddings that prioritize regulatory nuance over keyword frequency.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3632894"/>
            <a:ext cx="4714875" cy="478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SEMANTIC RETRIEVAL LOGIC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559687"/>
            <a:ext cx="5964226" cy="494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347144"/>
            <a:ext cx="5286375" cy="1049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-450875" y="2736309"/>
            <a:ext cx="528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k = 5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-450875" y="4121697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Optimized Retrieval Depth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34125" y="1836269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34125" y="4587180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TOP - K Cutoff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34125" y="2780775"/>
            <a:ext cx="5286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5400" y="1235550"/>
            <a:ext cx="7964175" cy="52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6334125" y="23383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Local LLM Deployment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34125" y="2747962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Phi-3 Mini (3.8B):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Provides the generative power without the cloud's carbon footprint.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34125" y="4995862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Zero Hallucination Policy: "I don't know" is better than a guess.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600825" y="347186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15125" y="3471862"/>
            <a:ext cx="4905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Prompt Engineering: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Constrains response synthesis to the provided context.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600825" y="400526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715125" y="4005262"/>
            <a:ext cx="4905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Privacy First: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No regulatory data leaves the local environment.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600825" y="453866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15125" y="4538662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Human-in-the-Loop: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Side-by-side verification view.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Generation Component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00" y="2495477"/>
            <a:ext cx="5286374" cy="2767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6334125" y="2462212"/>
            <a:ext cx="55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34125" y="2871787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34125" y="3690937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334125" y="4414837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334125" y="4872037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385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4624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9196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Qualitative Evaluation &amp; Traceability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143770" y="2117360"/>
            <a:ext cx="9764400" cy="3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Audit-Grade Traceability: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Source fidelity is the key success metric. Technical queries mapped directly to Disclosure Requirements (e.g., E1-6) with 100% visible citations.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Hallucination Mitigation: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Used "negative testing" (e.g., pizza recipes). Strict grounding forced the model to admit a lack of knowledge, preventing fabrication.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Human-in-the-Loop Verification: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Qualitative evaluation captures legal nuance. The architecture reduces the search space from 320 pages to 5 relevant clauses for human review.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571500" y="3886200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336824" y="40576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666750" y="3264662"/>
            <a:ext cx="349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Implementation of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PagedAttention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to optimize KV cache management.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6019874" y="40576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4349774" y="3264662"/>
            <a:ext cx="349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Scaling to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Social (S)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Governance (G)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ESRS branches.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9702924" y="40576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8127949" y="3275012"/>
            <a:ext cx="349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Full deployment of side-by-side </a:t>
            </a:r>
            <a:r>
              <a:rPr b="1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Validation UI</a:t>
            </a:r>
            <a:r>
              <a:rPr b="0" i="0" lang="en-US" sz="1500" u="none" cap="none" strike="noStrik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for audit-grade review.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Possible Improvements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